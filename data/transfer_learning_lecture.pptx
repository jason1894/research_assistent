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3774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Transfer Learning: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D6E4F0"/>
                </a:solidFill>
              </a:rPr>
              <a:t>Theory, Methods, and Applications to PDE Solving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E74B5"/>
                </a:solidFill>
              </a:rPr>
              <a:t>Graduate Course — Mathematics Department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04040"/>
                </a:solidFill>
              </a:rPr>
              <a:t>Lecture Notes | 2024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2179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404040"/>
                </a:solidFill>
              </a:rPr>
              <a:t>Key references: Pan &amp; Yang (2010), Raissi et al. (2019), Lu et al. (2021), Goswami et al. (2022)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</a:rPr>
              <a:t>2 / 27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solidFill>
            <a:srgbClr val="D6E4F0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404040"/>
                </a:solidFill>
              </a:rPr>
              <a:t>▸ Part I  — Background &amp; Motivation  (Slides 3–5)</a:t>
            </a:r>
          </a:p>
          <a:p>
            <a:pPr/>
            <a:r>
              <a:rPr sz="1800" b="0">
                <a:solidFill>
                  <a:srgbClr val="404040"/>
                </a:solidFill>
              </a:rPr>
              <a:t>▸ Part II — Deep Learning Foundations  (Slides 6–8)</a:t>
            </a:r>
          </a:p>
          <a:p>
            <a:pPr/>
            <a:r>
              <a:rPr sz="1800" b="0">
                <a:solidFill>
                  <a:srgbClr val="404040"/>
                </a:solidFill>
              </a:rPr>
              <a:t>▸ Part III — Transfer Learning: Theory &amp; Taxonomy  (Slides 9–14)</a:t>
            </a:r>
          </a:p>
          <a:p>
            <a:pPr/>
            <a:r>
              <a:rPr sz="1800" b="0">
                <a:solidFill>
                  <a:srgbClr val="404040"/>
                </a:solidFill>
              </a:rPr>
              <a:t>▸ Part IV — Fine-Tuning &amp; Domain Adaptation  (Slides 15–18)</a:t>
            </a:r>
          </a:p>
          <a:p>
            <a:pPr/>
            <a:r>
              <a:rPr sz="1800" b="0">
                <a:solidFill>
                  <a:srgbClr val="404040"/>
                </a:solidFill>
              </a:rPr>
              <a:t>▸ Part V  — Transfer Learning for PDE Solving  (Slides 19–24)</a:t>
            </a:r>
          </a:p>
          <a:p>
            <a:pPr/>
            <a:r>
              <a:rPr sz="1800" b="0">
                <a:solidFill>
                  <a:srgbClr val="404040"/>
                </a:solidFill>
              </a:rPr>
              <a:t>▸ Part VI — Open Problems &amp; Summary  (Slides 25–26)</a:t>
            </a:r>
          </a:p>
          <a:p>
            <a:pPr/>
            <a:r>
              <a:rPr sz="1800" b="0">
                <a:solidFill>
                  <a:srgbClr val="404040"/>
                </a:solidFill>
              </a:rPr>
              <a:t>▸ References  (Slide 27)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</a:rPr>
              <a:t>Why Transfer Learning?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141732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E74B5"/>
                </a:solidFill>
              </a:rPr>
              <a:t>Part I — Background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</a:rPr>
              <a:t>3 /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Traditional machine learning assumes: training data and test data are drawn i.i.d. from the same distribution.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194560"/>
            <a:ext cx="11430000" cy="3474720"/>
          </a:xfrm>
          <a:prstGeom prst="rect">
            <a:avLst/>
          </a:prstGeom>
          <a:solidFill>
            <a:srgbClr val="D6E4F0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404040"/>
                </a:solidFill>
              </a:rPr>
              <a:t>▸ In practice, labelled data in the target domain can be scarce or expensive (e.g., high-fidelity PDE simulations).</a:t>
            </a:r>
          </a:p>
          <a:p>
            <a:pPr/>
            <a:r>
              <a:rPr sz="1600" b="0">
                <a:solidFill>
                  <a:srgbClr val="404040"/>
                </a:solidFill>
              </a:rPr>
              <a:t>▸ A model trained for one PDE geometry/parameter regime fails on a related but different regime.</a:t>
            </a:r>
          </a:p>
          <a:p>
            <a:pPr/>
            <a:r>
              <a:rPr sz="1600" b="0">
                <a:solidFill>
                  <a:srgbClr val="404040"/>
                </a:solidFill>
              </a:rPr>
              <a:t>▸ Training deep neural networks from scratch is computationally costly.</a:t>
            </a:r>
          </a:p>
          <a:p>
            <a:pPr/>
            <a:r>
              <a:rPr sz="1600" b="0">
                <a:solidFill>
                  <a:srgbClr val="404040"/>
                </a:solidFill>
              </a:rPr>
              <a:t>▸ Transfer Learning: reuse knowledge from a source domain/task to improve learning in a target domain/task.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00800"/>
            <a:ext cx="1179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E74B5"/>
                </a:solidFill>
              </a:rPr>
              <a:t>Ref: Pan &amp; Yang, 'A Survey on Transfer Learning', IEEE TKDE 22(10), 2010, pp. 1345–1359.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</a:rPr>
              <a:t>The Data Scarcity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141732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E74B5"/>
                </a:solidFill>
              </a:rPr>
              <a:t>Part I — Background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</a:rPr>
              <a:t>4 /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High-fidelity numerical PDE solutions are expensive to compute. Transfer learning offers a principled approach to reuse knowledge.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286000"/>
            <a:ext cx="5394960" cy="3200400"/>
          </a:xfrm>
          <a:prstGeom prst="rect">
            <a:avLst/>
          </a:prstGeom>
          <a:solidFill>
            <a:srgbClr val="D6E4F0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04040"/>
                </a:solidFill>
              </a:rPr>
              <a:t>▸ Source domain: many labelled samples (e.g., simple geometry)</a:t>
            </a:r>
          </a:p>
          <a:p>
            <a:pPr/>
            <a:r>
              <a:rPr sz="1500" b="0">
                <a:solidFill>
                  <a:srgbClr val="404040"/>
                </a:solidFill>
              </a:rPr>
              <a:t>▸ Target domain: few labelled samples (e.g., complex geometry)</a:t>
            </a:r>
          </a:p>
          <a:p>
            <a:pPr/>
            <a:r>
              <a:rPr sz="1500" b="0">
                <a:solidFill>
                  <a:srgbClr val="404040"/>
                </a:solidFill>
              </a:rPr>
              <a:t>▸ Goal: transfer structural knowledge learned in source to improve target performance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2286000"/>
            <a:ext cx="5669280" cy="3200400"/>
          </a:xfrm>
          <a:prstGeom prst="rect">
            <a:avLst/>
          </a:prstGeom>
          <a:solidFill>
            <a:srgbClr val="D6E4F0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04040"/>
                </a:solidFill>
              </a:rPr>
              <a:t>▸ Motivating example: a PINN trained on a simple 1D heat equation can transfer to a 2D heat equation with fewer epochs</a:t>
            </a:r>
          </a:p>
          <a:p>
            <a:pPr/>
            <a:r>
              <a:rPr sz="1500" b="0">
                <a:solidFill>
                  <a:srgbClr val="404040"/>
                </a:solidFill>
              </a:rPr>
              <a:t>▸ Formally studied in: Chakraborty (2021), Desai et al. (2021)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400800"/>
            <a:ext cx="1179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E74B5"/>
                </a:solidFill>
              </a:rPr>
              <a:t>Ref: Chakraborty, 'Transfer learning based multi-fidelity physics informed deep neural network', J. Comput. Phys. 426 (2021) 109942.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</a:rPr>
              <a:t>Brief Historical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141732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E74B5"/>
                </a:solidFill>
              </a:rPr>
              <a:t>Part I — Background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</a:rPr>
              <a:t>5 /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54480"/>
            <a:ext cx="11430000" cy="4846320"/>
          </a:xfrm>
          <a:prstGeom prst="rect">
            <a:avLst/>
          </a:prstGeom>
          <a:solidFill>
            <a:srgbClr val="D6E4F0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404040"/>
                </a:solidFill>
              </a:rPr>
              <a:t>▸ 1995 — NIPS workshop 'Learning to Learn' raises the idea of knowledge transfer across tasks.</a:t>
            </a:r>
          </a:p>
          <a:p>
            <a:pPr/>
            <a:r>
              <a:rPr sz="1600" b="0">
                <a:solidFill>
                  <a:srgbClr val="404040"/>
                </a:solidFill>
              </a:rPr>
              <a:t>▸ 1997 — Thrun formalises the concept of 'learning to learn' (meta-learning).</a:t>
            </a:r>
          </a:p>
          <a:p>
            <a:pPr/>
            <a:r>
              <a:rPr sz="1600" b="0">
                <a:solidFill>
                  <a:srgbClr val="404040"/>
                </a:solidFill>
              </a:rPr>
              <a:t>▸ 2010 — Pan &amp; Yang publish the first comprehensive survey on Transfer Learning (IEEE TKDE).</a:t>
            </a:r>
          </a:p>
          <a:p>
            <a:pPr/>
            <a:r>
              <a:rPr sz="1600" b="0">
                <a:solidFill>
                  <a:srgbClr val="404040"/>
                </a:solidFill>
              </a:rPr>
              <a:t>▸ 2012 — Deep convolutional features shown to be transferable across image tasks (Yosinski et al., NeurIPS 2014).</a:t>
            </a:r>
          </a:p>
          <a:p>
            <a:pPr/>
            <a:r>
              <a:rPr sz="1600" b="0">
                <a:solidFill>
                  <a:srgbClr val="404040"/>
                </a:solidFill>
              </a:rPr>
              <a:t>▸ 2018 — BERT (Devlin et al.) demonstrates large-scale pre-training + fine-tuning in NLP.</a:t>
            </a:r>
          </a:p>
          <a:p>
            <a:pPr/>
            <a:r>
              <a:rPr sz="1600" b="0">
                <a:solidFill>
                  <a:srgbClr val="404040"/>
                </a:solidFill>
              </a:rPr>
              <a:t>▸ 2019 – present — Transfer learning enters scientific computing: PINNs, operator learning, surrogate models.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00800"/>
            <a:ext cx="1179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E74B5"/>
                </a:solidFill>
              </a:rPr>
              <a:t>Ref: Pan &amp; Yang (2010); Yosinski et al., NeurIPS 2014; Devlin et al., NAACL 2019.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</a:rPr>
              <a:t>Deep Learning: Notation &amp;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141732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E74B5"/>
                </a:solidFill>
              </a:rPr>
              <a:t>Part II — Deep Learning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</a:rPr>
              <a:t>6 /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A feedforward neural network of depth L is a parameterised function f_θ : ℝⁿ → ℝᵐ defined by the composition: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55700"/>
                </a:solidFill>
              </a:rPr>
              <a:t>f_θ(x) = W_L · σ(W_{L-1} · σ( ··· σ(W_1 x + b_1) ··· ) + b_{L-1}) + b_L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04040"/>
                </a:solidFill>
              </a:rPr>
              <a:t>where σ is a nonlinear activation (e.g., ReLU, tanh, sigmoid), W_l ∈ ℝ^{n_{l}×n_{l-1}} are weight matrices, b_l are bias vectors, and θ = {W_l, b_l}_{l=1}^{L} are all trainable parameters.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840480"/>
            <a:ext cx="11430000" cy="2560320"/>
          </a:xfrm>
          <a:prstGeom prst="rect">
            <a:avLst/>
          </a:prstGeom>
          <a:solidFill>
            <a:srgbClr val="D6E4F0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04040"/>
                </a:solidFill>
              </a:rPr>
              <a:t>▸ Training: minimise empirical risk  L(θ) = (1/N) Σᵢ ℓ(f_θ(xᵢ), yᵢ)  via stochastic gradient descent.</a:t>
            </a:r>
          </a:p>
          <a:p>
            <a:pPr/>
            <a:r>
              <a:rPr sz="1500" b="0">
                <a:solidFill>
                  <a:srgbClr val="404040"/>
                </a:solidFill>
              </a:rPr>
              <a:t>▸ Universal Approximation Theorem (Cybenko 1989; Hornik 1991): sufficiently wide networks approximate any continuous function on a compact set.</a:t>
            </a:r>
          </a:p>
          <a:p>
            <a:pPr/>
            <a:r>
              <a:rPr sz="1500" b="0">
                <a:solidFill>
                  <a:srgbClr val="404040"/>
                </a:solidFill>
              </a:rPr>
              <a:t>▸ Depth provides compositional expressivity (Telgarsky 2016, Mhaskar &amp; Poggio 2016).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400800"/>
            <a:ext cx="1179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E74B5"/>
                </a:solidFill>
              </a:rPr>
              <a:t>Ref: Goodfellow, Bengio &amp; Courville, 'Deep Learning', MIT Press, 2016. Cybenko, Math. Control Signals Systems 2 (1989) 303–314.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</a:rPr>
              <a:t>Representation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141732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E74B5"/>
                </a:solidFill>
              </a:rPr>
              <a:t>Part II — Deep Learning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</a:rPr>
              <a:t>7 /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Central insight (Bengio et al., 2013): deep networks learn a hierarchy of increasingly abstract representations.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194560"/>
            <a:ext cx="11430000" cy="3931920"/>
          </a:xfrm>
          <a:prstGeom prst="rect">
            <a:avLst/>
          </a:prstGeom>
          <a:solidFill>
            <a:srgbClr val="D6E4F0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404040"/>
                </a:solidFill>
              </a:rPr>
              <a:t>▸ Layer l maps input to a feature vector h^(l) = σ(W_l h^(l-1) + b_l).</a:t>
            </a:r>
          </a:p>
          <a:p>
            <a:pPr/>
            <a:r>
              <a:rPr sz="1600" b="0">
                <a:solidFill>
                  <a:srgbClr val="404040"/>
                </a:solidFill>
              </a:rPr>
              <a:t>▸ Early layers capture low-level features (local patterns, edges in images; low-frequency modes in PDE solutions).</a:t>
            </a:r>
          </a:p>
          <a:p>
            <a:pPr/>
            <a:r>
              <a:rPr sz="1600" b="0">
                <a:solidFill>
                  <a:srgbClr val="404040"/>
                </a:solidFill>
              </a:rPr>
              <a:t>▸ Deeper layers capture high-level semantic features (task-specific representations).</a:t>
            </a:r>
          </a:p>
          <a:p>
            <a:pPr/>
            <a:r>
              <a:rPr sz="1600" b="0">
                <a:solidFill>
                  <a:srgbClr val="404040"/>
                </a:solidFill>
              </a:rPr>
              <a:t>▸ Key empirical finding (Yosinski et al., NeurIPS 2014): early-layer features are general and transferable; later-layer features are task-specific.</a:t>
            </a:r>
          </a:p>
          <a:p>
            <a:pPr/>
            <a:r>
              <a:rPr sz="1600" b="0">
                <a:solidFill>
                  <a:srgbClr val="404040"/>
                </a:solidFill>
              </a:rPr>
              <a:t>▸ This hierarchy is the mathematical foundation of transfer learning.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00800"/>
            <a:ext cx="1179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E74B5"/>
                </a:solidFill>
              </a:rPr>
              <a:t>Ref: Bengio et al., 'Representation Learning: A Review and New Perspectives', IEEE TPAMI 35(8), 2013. Yosinski et al., NeurIPS 2014.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</a:rPr>
              <a:t>Training Challenges &amp; Generalisation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141732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E74B5"/>
                </a:solidFill>
              </a:rPr>
              <a:t>Part II — Deep Learning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</a:rPr>
              <a:t>8 /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54480"/>
            <a:ext cx="11430000" cy="4663440"/>
          </a:xfrm>
          <a:prstGeom prst="rect">
            <a:avLst/>
          </a:prstGeom>
          <a:solidFill>
            <a:srgbClr val="D6E4F0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404040"/>
                </a:solidFill>
              </a:rPr>
              <a:t>▸ Overfitting: model memorises training data, fails to generalise. Regularisation (L2, dropout) mitigates this.</a:t>
            </a:r>
          </a:p>
          <a:p>
            <a:pPr/>
            <a:r>
              <a:rPr sz="1600" b="0">
                <a:solidFill>
                  <a:srgbClr val="404040"/>
                </a:solidFill>
              </a:rPr>
              <a:t>▸ Curse of dimensionality: sample complexity grows exponentially with input dimension in classical function approx. theory.</a:t>
            </a:r>
          </a:p>
          <a:p>
            <a:pPr/>
            <a:r>
              <a:rPr sz="1600" b="0">
                <a:solidFill>
                  <a:srgbClr val="404040"/>
                </a:solidFill>
              </a:rPr>
              <a:t>▸ DNNs empirically break the curse for structured data — partly explained by implicit bias of SGD (Bartlett et al., 2021).</a:t>
            </a:r>
          </a:p>
          <a:p>
            <a:pPr/>
            <a:r>
              <a:rPr sz="1600" b="0">
                <a:solidFill>
                  <a:srgbClr val="404040"/>
                </a:solidFill>
              </a:rPr>
              <a:t>▸ For PDE solving: training data = collocation points; test = full domain. Sample efficiency is critical.</a:t>
            </a:r>
          </a:p>
          <a:p>
            <a:pPr/>
            <a:r>
              <a:rPr sz="1600" b="0">
                <a:solidFill>
                  <a:srgbClr val="404040"/>
                </a:solidFill>
              </a:rPr>
              <a:t>▸ Transfer learning directly addresses sample efficiency by initialising θ from a pre-trained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00800"/>
            <a:ext cx="1179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E74B5"/>
                </a:solidFill>
              </a:rPr>
              <a:t>Ref: Bartlett, Montanari &amp; Rakhlin, 'Deep learning: a statistical viewpoint', Acta Numerica 30 (2021) 87–201.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</a:rPr>
              <a:t>Formal Definition: Domain and 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141732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E74B5"/>
                </a:solidFill>
              </a:rPr>
              <a:t>Part III — Transfer Learning: Theory &amp; Taxonomy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</a:rPr>
              <a:t>9 /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3564"/>
                </a:solidFill>
              </a:rPr>
              <a:t>Definitions (Pan &amp; Yang, 2010):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04040"/>
                </a:solidFill>
              </a:rPr>
              <a:t>Domain  𝒟 = {𝒳, P(X)}  where  𝒳  is a feature space and  P(X) is a marginal distribution.
Task  𝒯 = {𝒴, f(·)}  where  𝒴  is a label space and  f : 𝒳 → 𝒴  is the predictive function (learned from {(xᵢ, yᵢ)}).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2004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3564"/>
                </a:solidFill>
              </a:rPr>
              <a:t>Transfer Learning (Pan &amp; Yang, 2010, Definition 3):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576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55700"/>
                </a:solidFill>
              </a:rPr>
              <a:t>Given source domain 𝒟_S and task 𝒯_S, and target domain 𝒟_T and task 𝒯_T, transfer learning aims to improve the learning of target predictive function  f_T  using knowledge in 𝒟_S and 𝒯_S, where  𝒟_S ≠ 𝒟_T  or  𝒯_S ≠ 𝒯_T.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400800"/>
            <a:ext cx="1179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E74B5"/>
                </a:solidFill>
              </a:rPr>
              <a:t>Ref: Pan &amp; Yang, IEEE TKDE 22(10), 2010, Definition 1–3.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</a:rPr>
              <a:t>Taxonomy of Transfer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141732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E74B5"/>
                </a:solidFill>
              </a:rPr>
              <a:t>Part III — Transfer Learning: Theory &amp; Taxonomy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</a:rPr>
              <a:t>10 /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554480"/>
            <a:ext cx="3657600" cy="4846320"/>
          </a:xfrm>
          <a:prstGeom prst="rect">
            <a:avLst/>
          </a:prstGeom>
          <a:solidFill>
            <a:srgbClr val="D6E4F0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F3564"/>
                </a:solidFill>
              </a:rPr>
              <a:t>Inductive TL</a:t>
            </a:r>
          </a:p>
          <a:p>
            <a:r>
              <a:rPr sz="1300">
                <a:solidFill>
                  <a:srgbClr val="404040"/>
                </a:solidFill>
              </a:rPr>
              <a:t>
Source and target tasks differ.
Target labelled data available.
Includes multi-task learning and self-taught learning.
E.g., fine-tuning BERT (Devlin et al., 2019)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0" y="1554480"/>
            <a:ext cx="3657600" cy="4846320"/>
          </a:xfrm>
          <a:prstGeom prst="rect">
            <a:avLst/>
          </a:prstGeom>
          <a:solidFill>
            <a:srgbClr val="D6E4F0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F3564"/>
                </a:solidFill>
              </a:rPr>
              <a:t>Transductive TL</a:t>
            </a:r>
          </a:p>
          <a:p>
            <a:r>
              <a:rPr sz="1300">
                <a:solidFill>
                  <a:srgbClr val="404040"/>
                </a:solidFill>
              </a:rPr>
              <a:t>
Source and target tasks same.
Domains differ (𝒳_S ≠ 𝒳_T or P_S(X) ≠ P_T(X)).
Also called Domain Adaptation.
E.g., covariate shift (Shimodaira, 2000)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0" y="1554480"/>
            <a:ext cx="3657600" cy="4846320"/>
          </a:xfrm>
          <a:prstGeom prst="rect">
            <a:avLst/>
          </a:prstGeom>
          <a:solidFill>
            <a:srgbClr val="D6E4F0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F3564"/>
                </a:solidFill>
              </a:rPr>
              <a:t>Unsupervised TL</a:t>
            </a:r>
          </a:p>
          <a:p>
            <a:r>
              <a:rPr sz="1300">
                <a:solidFill>
                  <a:srgbClr val="404040"/>
                </a:solidFill>
              </a:rPr>
              <a:t>
Both tasks differ.
No labelled data in source or target.
Transfer of representational structure.
E.g., self-supervised pretraining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400800"/>
            <a:ext cx="1179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E74B5"/>
                </a:solidFill>
              </a:rPr>
              <a:t>Ref: Pan &amp; Yang (2010), Table I. Weiss et al., 'A survey of transfer learning', J. Big Data 3:9 (2016).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</a:rPr>
              <a:t>What to Transfer?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141732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E74B5"/>
                </a:solidFill>
              </a:rPr>
              <a:t>Part III — Transfer Learning: Theory &amp; Taxonomy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</a:rPr>
              <a:t>11 /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Pan &amp; Yang (2010) identify four categories of transferable knowledge: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103120"/>
            <a:ext cx="11430000" cy="4297680"/>
          </a:xfrm>
          <a:prstGeom prst="rect">
            <a:avLst/>
          </a:prstGeom>
          <a:solidFill>
            <a:srgbClr val="D6E4F0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564"/>
                </a:solidFill>
              </a:rPr>
              <a:t>▸ Instance Transfer — reweight source samples for use in target (importance sampling)</a:t>
            </a:r>
          </a:p>
          <a:p>
            <a:pPr lvl="1"/>
            <a:r>
              <a:rPr sz="1350" b="0">
                <a:solidFill>
                  <a:srgbClr val="404040"/>
                </a:solidFill>
              </a:rPr>
              <a:t>  • Key tool: importance weight  w(x) = P_T(x)/P_S(x)  (Shimodaira, 2000; Sugiyama et al., 2007)</a:t>
            </a:r>
          </a:p>
          <a:p>
            <a:pPr/>
            <a:r>
              <a:rPr sz="1500" b="1">
                <a:solidFill>
                  <a:srgbClr val="1F3564"/>
                </a:solidFill>
              </a:rPr>
              <a:t>▸ Feature Representation Transfer — find good shared feature space across domains</a:t>
            </a:r>
          </a:p>
          <a:p>
            <a:pPr lvl="1"/>
            <a:r>
              <a:rPr sz="1350" b="0">
                <a:solidFill>
                  <a:srgbClr val="404040"/>
                </a:solidFill>
              </a:rPr>
              <a:t>  • Learn Φ : 𝒳 → ℝᵈ such that P_S(Φ(X)) ≈ P_T(Φ(X))</a:t>
            </a:r>
          </a:p>
          <a:p>
            <a:pPr/>
            <a:r>
              <a:rPr sz="1500" b="1">
                <a:solidFill>
                  <a:srgbClr val="1F3564"/>
                </a:solidFill>
              </a:rPr>
              <a:t>▸ Parameter (Model) Transfer — share model parameters or priors between tasks</a:t>
            </a:r>
          </a:p>
          <a:p>
            <a:pPr lvl="1"/>
            <a:r>
              <a:rPr sz="1350" b="0">
                <a:solidFill>
                  <a:srgbClr val="404040"/>
                </a:solidFill>
              </a:rPr>
              <a:t>  • Fine-tuning: initialise f_T with θ learned on source, then update with target data</a:t>
            </a:r>
          </a:p>
          <a:p>
            <a:pPr/>
            <a:r>
              <a:rPr sz="1500" b="1">
                <a:solidFill>
                  <a:srgbClr val="1F3564"/>
                </a:solidFill>
              </a:rPr>
              <a:t>▸ Relational-Knowledge Transfer — transfer logical/relational knowledge (less common in PDE context)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00800"/>
            <a:ext cx="1179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E74B5"/>
                </a:solidFill>
              </a:rPr>
              <a:t>Ref: Pan &amp; Yang (2010), Section III. Shimodaira, J. Stat. Plan. Inf. 90 (2000) 227–244.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</a:rPr>
              <a:t>Negative Transfer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141732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E74B5"/>
                </a:solidFill>
              </a:rPr>
              <a:t>Part III — Transfer Learning: Theory &amp; Taxonomy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</a:rPr>
              <a:t>12 /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55700"/>
                </a:solidFill>
              </a:rPr>
              <a:t>Negative Transfer: when knowledge from source domain HURTS target performance.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194560"/>
            <a:ext cx="11430000" cy="4023360"/>
          </a:xfrm>
          <a:prstGeom prst="rect">
            <a:avLst/>
          </a:prstGeom>
          <a:solidFill>
            <a:srgbClr val="D6E4F0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04040"/>
                </a:solidFill>
              </a:rPr>
              <a:t>▸ Occurs when source and target are insufficiently related (Pan &amp; Yang, 2010, Section V).</a:t>
            </a:r>
          </a:p>
          <a:p>
            <a:pPr/>
            <a:r>
              <a:rPr sz="1500" b="0">
                <a:solidFill>
                  <a:srgbClr val="404040"/>
                </a:solidFill>
              </a:rPr>
              <a:t>▸ Formally: E[L_T(f̂_T)] &gt; E[L_T(f*_T)]  where f̂_T uses transfer and f*_T is trained only on target.</a:t>
            </a:r>
          </a:p>
          <a:p>
            <a:pPr/>
            <a:r>
              <a:rPr sz="1500" b="0">
                <a:solidFill>
                  <a:srgbClr val="404040"/>
                </a:solidFill>
              </a:rPr>
              <a:t>▸ Theoretical analysis (Ben-David et al., 2010): target error bounded by source error + divergence between domains.</a:t>
            </a:r>
          </a:p>
          <a:p>
            <a:pPr/>
            <a:r>
              <a:rPr sz="1500" b="0">
                <a:solidFill>
                  <a:srgbClr val="404040"/>
                </a:solidFill>
              </a:rPr>
              <a:t>▸     ε_T(h) ≤ ε_S(h) + d_H(𝒟_S, 𝒟_T) + λ*</a:t>
            </a:r>
          </a:p>
          <a:p>
            <a:pPr/>
            <a:r>
              <a:rPr sz="1500" b="0">
                <a:solidFill>
                  <a:srgbClr val="404040"/>
                </a:solidFill>
              </a:rPr>
              <a:t>▸ where  d_H  is the H-divergence and λ* is the combined ideal error.</a:t>
            </a:r>
          </a:p>
          <a:p>
            <a:pPr/>
            <a:r>
              <a:rPr sz="1500" b="0">
                <a:solidFill>
                  <a:srgbClr val="404040"/>
                </a:solidFill>
              </a:rPr>
              <a:t>▸ Mitigation strategies: domain similarity assessment; selective transfer; adversarial domain adaptation.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00800"/>
            <a:ext cx="1179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E74B5"/>
                </a:solidFill>
              </a:rPr>
              <a:t>Ref: Ben-David et al., 'A theory of learning from different distributions', Machine Learning 79(1–2), 2010, pp. 151–175.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</a:rPr>
              <a:t>Domain Adaptation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141732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E74B5"/>
                </a:solidFill>
              </a:rPr>
              <a:t>Part III — Transfer Learning: Theory &amp; Taxonomy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</a:rPr>
              <a:t>13 /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Setting: same task (𝒯_S = 𝒯_T) but  P_S(X) ≠ P_T(X)  (distributional shift).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031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564"/>
                </a:solidFill>
              </a:rPr>
              <a:t>Covariate Shift (Shimodaira, 2000):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</a:rPr>
              <a:t>P_S(Y|X) = P_T(Y|X)  but  P_S(X) ≠ P_T(X).
Corrected estimator: minimise  Σᵢ w(xᵢ) ℓ(f(xᵢ), yᵢ)  with  w(x) = P_T(x)/P_S(x).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29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564"/>
                </a:solidFill>
              </a:rPr>
              <a:t>Maximum Mean Discrepancy (Gretton et al., 2012):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404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</a:rPr>
              <a:t>MMD²(P, Q) = ‖ μ_P − μ_Q ‖²_ℋ = E_{x~P}[k(x,·)] − E_{y~Q}[k(y,·)]  in RKHS ℋ.
Domain Adaptation: add MMD penalty to training loss to align feature distributions.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754880"/>
            <a:ext cx="11430000" cy="1463040"/>
          </a:xfrm>
          <a:prstGeom prst="rect">
            <a:avLst/>
          </a:prstGeom>
          <a:solidFill>
            <a:srgbClr val="D6E4F0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404040"/>
                </a:solidFill>
              </a:rPr>
              <a:t>▸ Deep Domain Adaptation (Long et al., ICML 2015): minimise task loss + MMD between deep features.</a:t>
            </a:r>
          </a:p>
          <a:p>
            <a:pPr/>
            <a:r>
              <a:rPr sz="1400" b="0">
                <a:solidFill>
                  <a:srgbClr val="404040"/>
                </a:solidFill>
              </a:rPr>
              <a:t>▸ DANN (Ganin et al., JMLR 2016): adversarial training to make features domain-invariant.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6400800"/>
            <a:ext cx="1179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E74B5"/>
                </a:solidFill>
              </a:rPr>
              <a:t>Ref: Gretton et al., JMLR 13 (2012); Long et al., ICML 2015; Ganin et al., JMLR 17 (2016) 1–35.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</a:rPr>
              <a:t>Fine-Tuning: Parameter Transfer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141732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E74B5"/>
                </a:solidFill>
              </a:rPr>
              <a:t>Part III — Transfer Learning: Theory &amp; Taxonomy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</a:rPr>
              <a:t>14 /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Most widely-used transfer learning strategy in deep learning practice (Howard &amp; Ruder, 2018).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031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564"/>
                </a:solidFill>
              </a:rPr>
              <a:t>Algorithm (Fine-Tuning):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11064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</a:rPr>
              <a:t>1. Pre-train network f_{θ_S} on source data {(xᵢ,yᵢ)}ᵢ₌₁ᴺˢ to minimise L_S(θ).
2. Initialise θ_T ← θ_S.
3. Fine-tune on target data {(xⱼ,yⱼ)}ⱼ₌₁ᴺᵀ to minimise L_T(θ_T), typically with a smaller learning rate η_T ≪ η_S.
4. Optionally freeze lower layers (feature extractor) and only train upper layers.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4297680"/>
            <a:ext cx="11430000" cy="2011680"/>
          </a:xfrm>
          <a:prstGeom prst="rect">
            <a:avLst/>
          </a:prstGeom>
          <a:solidFill>
            <a:srgbClr val="D6E4F0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04040"/>
                </a:solidFill>
              </a:rPr>
              <a:t>▸ Layer freezing: empirically, first k layers act as general feature extractor (Yosinski et al., 2014).</a:t>
            </a:r>
          </a:p>
          <a:p>
            <a:pPr/>
            <a:r>
              <a:rPr sz="1500" b="0">
                <a:solidFill>
                  <a:srgbClr val="404040"/>
                </a:solidFill>
              </a:rPr>
              <a:t>▸ Discriminative learning rates (Howard &amp; Ruder, 2018): use different η per layer; lower for early layers.</a:t>
            </a:r>
          </a:p>
          <a:p>
            <a:pPr/>
            <a:r>
              <a:rPr sz="1500" b="0">
                <a:solidFill>
                  <a:srgbClr val="404040"/>
                </a:solidFill>
              </a:rPr>
              <a:t>▸ Theoretical justification: fine-tuning as a warm start reduces optimisation landscape complexity (Du et al., 2020).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400800"/>
            <a:ext cx="1179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E74B5"/>
                </a:solidFill>
              </a:rPr>
              <a:t>Ref: Howard &amp; Ruder, 'Universal Language Model Fine-Tuning', ACL 2018. Yosinski et al., NeurIPS 2014.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</a:rPr>
              <a:t>Theoretical Guarantees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141732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E74B5"/>
                </a:solidFill>
              </a:rPr>
              <a:t>Part IV — Fine-Tuning &amp; Domain Adaptation 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</a:rPr>
              <a:t>15 /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3564"/>
                </a:solidFill>
              </a:rPr>
              <a:t>Ben-David et al. (2010) — Domain Adaptation Bound: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55700"/>
                </a:solidFill>
              </a:rPr>
              <a:t>For hypothesis class ℋ, source error ε_S(h), and H-divergence d_ℋΔℋ(𝒟_S, 𝒟_T):
  ε_T(h) ≤ ε_S(h)  +  ½ d_{ℋΔℋ}(𝒟_S, 𝒟_T)  +  λ*
where  λ* = min_{h∈ℋ} [ ε_S(h) + ε_T(h) ]  is the ideal joint error.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5661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564"/>
                </a:solidFill>
              </a:rPr>
              <a:t>Implications: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4023360"/>
            <a:ext cx="11430000" cy="2377440"/>
          </a:xfrm>
          <a:prstGeom prst="rect">
            <a:avLst/>
          </a:prstGeom>
          <a:solidFill>
            <a:srgbClr val="D6E4F0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04040"/>
                </a:solidFill>
              </a:rPr>
              <a:t>▸ Transfer improves target performance only if domain divergence is small.</a:t>
            </a:r>
          </a:p>
          <a:p>
            <a:pPr/>
            <a:r>
              <a:rPr sz="1500" b="0">
                <a:solidFill>
                  <a:srgbClr val="404040"/>
                </a:solidFill>
              </a:rPr>
              <a:t>▸ The H-divergence can be estimated from unlabelled samples (proxy A-distance).</a:t>
            </a:r>
          </a:p>
          <a:p>
            <a:pPr/>
            <a:r>
              <a:rPr sz="1500" b="0">
                <a:solidFill>
                  <a:srgbClr val="404040"/>
                </a:solidFill>
              </a:rPr>
              <a:t>▸ Larger source datasets reduce source error but cannot compensate for large domain divergence.</a:t>
            </a:r>
          </a:p>
          <a:p>
            <a:pPr/>
            <a:r>
              <a:rPr sz="1500" b="0">
                <a:solidFill>
                  <a:srgbClr val="404040"/>
                </a:solidFill>
              </a:rPr>
              <a:t>▸ For PDE applications: source and target PDEs must share structural properties (same type, similar domain).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400800"/>
            <a:ext cx="1179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E74B5"/>
                </a:solidFill>
              </a:rPr>
              <a:t>Ref: Ben-David et al., Machine Learning 79 (2010) 151–175.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</a:rPr>
              <a:t>Multi-Fidelity Transfer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141732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E74B5"/>
                </a:solidFill>
              </a:rPr>
              <a:t>Part IV — Fine-Tuning &amp; Domain Adaptation 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</a:rPr>
              <a:t>16 /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Multi-fidelity modelling: combine cheap low-fidelity (LF) and expensive high-fidelity (HF)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031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564"/>
                </a:solidFill>
              </a:rPr>
              <a:t>Framework (Kennedy &amp; O'Hagan, 2000; Peherstorfer et al., 2018):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55700"/>
                </a:solidFill>
              </a:rPr>
              <a:t>u_HF(x) = ρ · u_LF(x) + δ(x)
where  ρ  is a scaling factor and  δ  is the discrepancy model.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29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564"/>
                </a:solidFill>
              </a:rPr>
              <a:t>Transfer Learning approach (Chakraborty, 2021):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4048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</a:rPr>
              <a:t>1. Train PINN on large low-fidelity dataset (coarse mesh solutions).
2. Fine-tune on small high-fidelity dataset (fine mesh solutions).
3. Network learns: lower layers ≈ shared physics; upper layers ≈ fidelity-specific correction.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983480"/>
            <a:ext cx="11430000" cy="1280160"/>
          </a:xfrm>
          <a:prstGeom prst="rect">
            <a:avLst/>
          </a:prstGeom>
          <a:solidFill>
            <a:srgbClr val="D6E4F0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04040"/>
                </a:solidFill>
              </a:rPr>
              <a:t>▸ Demonstrated on fluid dynamics problems (Navier-Stokes): 90% fewer HF training samples with comparable accuracy.</a:t>
            </a:r>
          </a:p>
          <a:p>
            <a:pPr/>
            <a:r>
              <a:rPr sz="1500" b="0">
                <a:solidFill>
                  <a:srgbClr val="404040"/>
                </a:solidFill>
              </a:rPr>
              <a:t>▸ Generalises multi-fidelity Gaussian process co-kriging to neural networks.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6400800"/>
            <a:ext cx="1179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E74B5"/>
                </a:solidFill>
              </a:rPr>
              <a:t>Ref: Chakraborty, J. Comput. Phys. 426 (2021) 109942. Peherstorfer et al., SIAM Review 60(3) (2018) 550–591.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</a:rPr>
              <a:t>One-Shot Transfer &amp; Meta-Learning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141732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E74B5"/>
                </a:solidFill>
              </a:rPr>
              <a:t>Part IV — Fine-Tuning &amp; Domain Adaptation 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</a:rPr>
              <a:t>17 /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One-Shot Transfer (Desai et al., 2021): transfer a PINN to a new PDE instance using only one labelled sample.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48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564"/>
                </a:solidFill>
              </a:rPr>
              <a:t>MAML-style meta-learning (Finn et al., ICML 2017):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55700"/>
                </a:solidFill>
              </a:rPr>
              <a:t>Meta-objective: min_θ  Σ_{i} L_{T_i}( θ − α ∇_θ L_{T_i}(θ) )
Find initialisation θ* such that one gradient step on any new task gives good performance.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749039"/>
            <a:ext cx="11430000" cy="2468880"/>
          </a:xfrm>
          <a:prstGeom prst="rect">
            <a:avLst/>
          </a:prstGeom>
          <a:solidFill>
            <a:srgbClr val="D6E4F0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04040"/>
                </a:solidFill>
              </a:rPr>
              <a:t>▸ Desai et al. (2021): apply MAML to PINNs — meta-train over a family of PDEs (varying coefficients), then one-shot transfer to new PDE.</a:t>
            </a:r>
          </a:p>
          <a:p>
            <a:pPr/>
            <a:r>
              <a:rPr sz="1500" b="0">
                <a:solidFill>
                  <a:srgbClr val="404040"/>
                </a:solidFill>
              </a:rPr>
              <a:t>▸ Result: 1–5 gradient steps on new PDE suffice for accurate solution.</a:t>
            </a:r>
          </a:p>
          <a:p>
            <a:pPr/>
            <a:r>
              <a:rPr sz="1500" b="0">
                <a:solidFill>
                  <a:srgbClr val="404040"/>
                </a:solidFill>
              </a:rPr>
              <a:t>▸ Connection: meta-learning can be interpreted as learning a prior over neural network parameters.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400800"/>
            <a:ext cx="1179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E74B5"/>
                </a:solidFill>
              </a:rPr>
              <a:t>Ref: Desai et al., 'One-shot transfer learning of physics-informed neural networks', arXiv:2110.11286 (2021). Finn et al., ICML 2017.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</a:rPr>
              <a:t>Catastrophic Forgetting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141732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E74B5"/>
                </a:solidFill>
              </a:rPr>
              <a:t>Part IV — Fine-Tuning &amp; Domain Adaptation 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</a:rPr>
              <a:t>18 /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Catastrophic Forgetting (McCloskey &amp; Cohen, 1989; Kirkpatrick et al., 2017): neural networks forget previously learned knowledge when trained on new tasks.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86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564"/>
                </a:solidFill>
              </a:rPr>
              <a:t>Elastic Weight Consolidation — EWC (Kirkpatrick et al., PNAS 2017):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55700"/>
                </a:solidFill>
              </a:rPr>
              <a:t>L(θ) = L_B(θ) + Σⱼ (λ/2) Fⱼ (θⱼ − θ*_{A,j})²
Fisher Information matrix F estimates importance of each parameter θⱼ to task A.
Quadratic penalty prevents large deviation from θ*_A when learning task B.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4160520"/>
            <a:ext cx="11430000" cy="2103120"/>
          </a:xfrm>
          <a:prstGeom prst="rect">
            <a:avLst/>
          </a:prstGeom>
          <a:solidFill>
            <a:srgbClr val="D6E4F0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04040"/>
                </a:solidFill>
              </a:rPr>
              <a:t>▸ Relevance for PDE applications: after transfer from source PDE, prevent network from forgetting source physics when fine-tuning on target.</a:t>
            </a:r>
          </a:p>
          <a:p>
            <a:pPr/>
            <a:r>
              <a:rPr sz="1500" b="0">
                <a:solidFill>
                  <a:srgbClr val="404040"/>
                </a:solidFill>
              </a:rPr>
              <a:t>▸ Progressive neural networks (Rusu et al., 2016): add new columns for new tasks, freeze old columns.</a:t>
            </a:r>
          </a:p>
          <a:p>
            <a:pPr/>
            <a:r>
              <a:rPr sz="1500" b="0">
                <a:solidFill>
                  <a:srgbClr val="404040"/>
                </a:solidFill>
              </a:rPr>
              <a:t>▸ Active area of research in continual learning (van de Ven &amp; Tolias, 2019).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400800"/>
            <a:ext cx="1179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E74B5"/>
                </a:solidFill>
              </a:rPr>
              <a:t>Ref: Kirkpatrick et al., PNAS 114(13) (2017) 3521–3526.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</a:rPr>
              <a:t>Physics-Informed Neural Networks (PINNs)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141732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E74B5"/>
                </a:solidFill>
              </a:rPr>
              <a:t>Part V — Transfer Learning for PDE Solving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</a:rPr>
              <a:t>19 /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Setup: solve PDE  𝒩[u](x) = f(x)  on Ω ⊂ ℝᵈ, with boundary condition  ℬ[u](x) = g(x)  on ∂Ω.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48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564"/>
                </a:solidFill>
              </a:rPr>
              <a:t>PINN Loss (Raissi, Perdikaris &amp; Karniadakis, 2019):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55700"/>
                </a:solidFill>
              </a:rPr>
              <a:t>L(θ) = (1/N_r) Σᵢ |𝒩[u_θ](xᵣᵢ) − f(xᵣᵢ)|² + (1/N_b) Σⱼ |ℬ[u_θ](xᵦⱼ) − g(xᵦⱼ)|²
where u_θ is a neural network, xᵣᵢ are interior collocation points, xᵦⱼ are boundary points.
Automatic differentiation computes the PDE residual exactly.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4023360"/>
            <a:ext cx="11430000" cy="2103120"/>
          </a:xfrm>
          <a:prstGeom prst="rect">
            <a:avLst/>
          </a:prstGeom>
          <a:solidFill>
            <a:srgbClr val="D6E4F0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04040"/>
                </a:solidFill>
              </a:rPr>
              <a:t>▸ No mesh required — meshfree method suitable for high-dimensional or complex-geometry PDEs.</a:t>
            </a:r>
          </a:p>
          <a:p>
            <a:pPr/>
            <a:r>
              <a:rPr sz="1500" b="0">
                <a:solidFill>
                  <a:srgbClr val="404040"/>
                </a:solidFill>
              </a:rPr>
              <a:t>▸ Key limitation: must retrain from scratch for each new PDE or parameter configuration.</a:t>
            </a:r>
          </a:p>
          <a:p>
            <a:pPr/>
            <a:r>
              <a:rPr sz="1500" b="0">
                <a:solidFill>
                  <a:srgbClr val="404040"/>
                </a:solidFill>
              </a:rPr>
              <a:t>▸ Transfer learning directly addresses this limitation.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400800"/>
            <a:ext cx="1179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E74B5"/>
                </a:solidFill>
              </a:rPr>
              <a:t>Ref: Raissi, Perdikaris &amp; Karniadakis, 'Physics-informed neural networks', J. Comput. Phys. 378 (2019) 686–707.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</a:rPr>
              <a:t>Transfer Learning for PINNs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141732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E74B5"/>
                </a:solidFill>
              </a:rPr>
              <a:t>Part V — Transfer Learning for PDE Solving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</a:rPr>
              <a:t>20 /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Goal: reuse a PINN trained on a source PDE to accelerate solving a related target PDE.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031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564"/>
                </a:solidFill>
              </a:rPr>
              <a:t>Goswami et al. (2020) — Fracture Mechanics: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11064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</a:rPr>
              <a:t>Phase-field fracture model (Cahn-Hilliard type PDE) with varying crack geometries.
Protocol: pre-train on simple crack geometry, fine-tune on complex geometry.
Result: fine-tuned model converges 5–10× faster than training from scratch.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6118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564"/>
                </a:solidFill>
              </a:rPr>
              <a:t>Chakraborty (2021) — Navier-Stokes: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6908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</a:rPr>
              <a:t>Multi-fidelity PINN transfer: source = LF coarse simulation, target = HF fine simulation.
Transfer reduces required HF samples from O(10³) to O(10²) while maintaining accuracy.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937760"/>
            <a:ext cx="11430000" cy="1371600"/>
          </a:xfrm>
          <a:prstGeom prst="rect">
            <a:avLst/>
          </a:prstGeom>
          <a:solidFill>
            <a:srgbClr val="D6E4F0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04040"/>
                </a:solidFill>
              </a:rPr>
              <a:t>▸ Key observation: lower PINN layers encode PDE type (elliptic, parabolic, hyperbolic); upper layers encode specific parameters.</a:t>
            </a:r>
          </a:p>
          <a:p>
            <a:pPr/>
            <a:r>
              <a:rPr sz="1500" b="0">
                <a:solidFill>
                  <a:srgbClr val="404040"/>
                </a:solidFill>
              </a:rPr>
              <a:t>▸ Freeze lower layers during fine-tuning — consistent with representation learning theory.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6400800"/>
            <a:ext cx="1179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E74B5"/>
                </a:solidFill>
              </a:rPr>
              <a:t>Ref: Goswami et al., Theor. Appl. Fract. Mech. 106 (2020) 102447. Chakraborty, J. Comput. Phys. 426 (2021).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</a:rPr>
              <a:t>DeepONet: Operator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141732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E74B5"/>
                </a:solidFill>
              </a:rPr>
              <a:t>Part V — Transfer Learning for PDE Solving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</a:rPr>
              <a:t>21 /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DeepONet (Lu et al., 2021) learns the solution operator  𝒢 : u₀ ↦ u(·,t)  of a PDE.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031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564"/>
                </a:solidFill>
              </a:rPr>
              <a:t>Architecture (Universal Approximation Theorem for Operators, Chen &amp; Chen, 1995):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55700"/>
                </a:solidFill>
              </a:rPr>
              <a:t>𝒢(u)(y) ≈ Σₖ₌₁ᵖ branch_k(u(x₁), …, u(xₘ)) · trunk_k(y)
Branch net: encodes input function u evaluated at sensor points {xᵢ}.
Trunk net: encodes query location 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749039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564"/>
                </a:solidFill>
              </a:rPr>
              <a:t>Transfer Learning for DeepONet (Goswami et al., 2022):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062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</a:rPr>
              <a:t>Pre-train DeepONet on a family of source PDEs.
Fine-tune only the trunk net for a new PDE class — trunk encodes geometry (transferable).
Validated on Darcy flow with varying permeability fields.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257800"/>
            <a:ext cx="11430000" cy="822960"/>
          </a:xfrm>
          <a:prstGeom prst="rect">
            <a:avLst/>
          </a:prstGeom>
          <a:solidFill>
            <a:srgbClr val="D6E4F0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04040"/>
                </a:solidFill>
              </a:rPr>
              <a:t>▸ Transfer reduces training data requirement by ~80% for the target operator.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6400800"/>
            <a:ext cx="1179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E74B5"/>
                </a:solidFill>
              </a:rPr>
              <a:t>Ref: Lu et al., 'Learning nonlinear operators via DeepONet', Nat. Mach. Intell. 3 (2021) 218–229. Goswami et al., arXiv:2204.12516 (2022).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</a:rPr>
              <a:t>Fourier Neural Operator &amp; Transfer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141732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E74B5"/>
                </a:solidFill>
              </a:rPr>
              <a:t>Part V — Transfer Learning for PDE Solving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</a:rPr>
              <a:t>22 /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Fourier Neural Operator (FNO, Li et al., ICLR 2021) parameterises the integral kernel in Fourier space.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031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564"/>
                </a:solidFill>
              </a:rPr>
              <a:t>FNO Layer: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55700"/>
                </a:solidFill>
              </a:rPr>
              <a:t>v_{t+1}(x) = σ( W v_t(x) + (𝒦(a; φ) v_t)(x) )
(𝒦(a; φ) v)(x) = ℱ⁻¹( R_φ · ℱ(v) )(x)
where ℱ is the Fourier transform and R_φ are learnable complex weights in Fourier space.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886200"/>
            <a:ext cx="11430000" cy="2560320"/>
          </a:xfrm>
          <a:prstGeom prst="rect">
            <a:avLst/>
          </a:prstGeom>
          <a:solidFill>
            <a:srgbClr val="D6E4F0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04040"/>
                </a:solidFill>
              </a:rPr>
              <a:t>▸ FNO is resolution-invariant — trained at one grid resolution, evaluated at any resolution.</a:t>
            </a:r>
          </a:p>
          <a:p>
            <a:pPr/>
            <a:r>
              <a:rPr sz="1500" b="0">
                <a:solidFill>
                  <a:srgbClr val="404040"/>
                </a:solidFill>
              </a:rPr>
              <a:t>▸ Transfer across resolutions: zero-shot transfer (Li et al., 2021) from coarse to fine grid with no additional training.</a:t>
            </a:r>
          </a:p>
          <a:p>
            <a:pPr/>
            <a:r>
              <a:rPr sz="1500" b="0">
                <a:solidFill>
                  <a:srgbClr val="404040"/>
                </a:solidFill>
              </a:rPr>
              <a:t>▸ Benchmark: Navier-Stokes (2D), Darcy flow, Burgers' equation — FNO outperforms classical solvers at comparable accuracy for a large family of initial conditions.</a:t>
            </a:r>
          </a:p>
          <a:p>
            <a:pPr/>
            <a:r>
              <a:rPr sz="1500" b="0">
                <a:solidFill>
                  <a:srgbClr val="404040"/>
                </a:solidFill>
              </a:rPr>
              <a:t>▸ Transfer across PDE families: fine-tune FNO trained on parabolic PDEs for hyperbolic PDEs (Subramanian et al., 2023).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400800"/>
            <a:ext cx="1179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E74B5"/>
                </a:solidFill>
              </a:rPr>
              <a:t>Ref: Li et al., 'Fourier Neural Operator for Parametric PDEs', ICLR 2021. Subramanian et al., arXiv:2211.11319 (2023).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</a:rPr>
              <a:t>Transfer Across Parameterised PDE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141732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E74B5"/>
                </a:solidFill>
              </a:rPr>
              <a:t>Part V — Transfer Learning for PDE Solving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</a:rPr>
              <a:t>23 /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Setting: PDE family  𝒩_μ[u] = f  parameterised by μ ∈ 𝒫 (e.g., Reynolds number, diffusion coefficient).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194560"/>
            <a:ext cx="11430000" cy="4114800"/>
          </a:xfrm>
          <a:prstGeom prst="rect">
            <a:avLst/>
          </a:prstGeom>
          <a:solidFill>
            <a:srgbClr val="D6E4F0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04040"/>
                </a:solidFill>
              </a:rPr>
              <a:t>▸ Source: train PINN / operator network for  μ ∈ 𝒫_S  (range of parameters).</a:t>
            </a:r>
          </a:p>
          <a:p>
            <a:pPr/>
            <a:r>
              <a:rPr sz="1500" b="0">
                <a:solidFill>
                  <a:srgbClr val="404040"/>
                </a:solidFill>
              </a:rPr>
              <a:t>▸ Target: fine-tune for  μ_T ∉ 𝒫_S  (out-of-distribution parameter).</a:t>
            </a:r>
          </a:p>
          <a:p>
            <a:pPr/>
            <a:r>
              <a:rPr sz="1500" b="0">
                <a:solidFill>
                  <a:srgbClr val="404040"/>
                </a:solidFill>
              </a:rPr>
              <a:t>▸ Xu et al. (2023): hyper-network approach — meta-network generates PINN parameters conditioned on μ; amortises transfer across the entire parameter space.</a:t>
            </a:r>
          </a:p>
          <a:p>
            <a:pPr/>
            <a:r>
              <a:rPr sz="1500" b="0">
                <a:solidFill>
                  <a:srgbClr val="404040"/>
                </a:solidFill>
              </a:rPr>
              <a:t>▸ Pestourie et al. (2023): transfer learning for inverse problems — pre-train forward solver, fine-tune for inverse map.</a:t>
            </a:r>
          </a:p>
          <a:p>
            <a:pPr/>
            <a:r>
              <a:rPr sz="1500" b="0">
                <a:solidFill>
                  <a:srgbClr val="404040"/>
                </a:solidFill>
              </a:rPr>
              <a:t>▸ Key theoretical insight (Lanthaler et al., 2022): operator approximation error depends on Kolmogorov N-width of solution manifold; transfer can reduce effective N-width.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00800"/>
            <a:ext cx="1179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E74B5"/>
                </a:solidFill>
              </a:rPr>
              <a:t>Ref: Xu et al., J. Comput. Phys. 474 (2023). Lanthaler et al., J. Mach. Learn. Res. 23 (2022) 1–76.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</a:rPr>
              <a:t>Summary: TL Strategies for PDE Solving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141732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E74B5"/>
                </a:solidFill>
              </a:rPr>
              <a:t>Part V — Transfer Learning for PDE Solving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</a:rPr>
              <a:t>24 /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554480"/>
            <a:ext cx="2011680" cy="411480"/>
          </a:xfrm>
          <a:prstGeom prst="rect">
            <a:avLst/>
          </a:prstGeom>
          <a:solidFill>
            <a:srgbClr val="1F356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Strategy</a:t>
            </a:r>
          </a:p>
        </p:txBody>
      </p:sp>
      <p:sp>
        <p:nvSpPr>
          <p:cNvPr id="6" name="Rectangle 5"/>
          <p:cNvSpPr/>
          <p:nvPr/>
        </p:nvSpPr>
        <p:spPr>
          <a:xfrm>
            <a:off x="2331720" y="1554480"/>
            <a:ext cx="2926080" cy="411480"/>
          </a:xfrm>
          <a:prstGeom prst="rect">
            <a:avLst/>
          </a:prstGeom>
          <a:solidFill>
            <a:srgbClr val="1F356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Source → Target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0" y="1554480"/>
            <a:ext cx="2743200" cy="411480"/>
          </a:xfrm>
          <a:prstGeom prst="rect">
            <a:avLst/>
          </a:prstGeom>
          <a:solidFill>
            <a:srgbClr val="1F356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8092440" y="1554480"/>
            <a:ext cx="3291840" cy="411480"/>
          </a:xfrm>
          <a:prstGeom prst="rect">
            <a:avLst/>
          </a:prstGeom>
          <a:solidFill>
            <a:srgbClr val="1F356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Key Reference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965960"/>
            <a:ext cx="2011680" cy="658368"/>
          </a:xfrm>
          <a:prstGeom prst="rect">
            <a:avLst/>
          </a:prstGeom>
          <a:solidFill>
            <a:srgbClr val="D6E4F0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404040"/>
                </a:solidFill>
              </a:rPr>
              <a:t>Fine-tuning PINN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1965960"/>
            <a:ext cx="2926080" cy="658368"/>
          </a:xfrm>
          <a:prstGeom prst="rect">
            <a:avLst/>
          </a:prstGeom>
          <a:solidFill>
            <a:srgbClr val="D6E4F0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404040"/>
                </a:solidFill>
              </a:rPr>
              <a:t>Simple → complex geometry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0" y="1965960"/>
            <a:ext cx="2743200" cy="658368"/>
          </a:xfrm>
          <a:prstGeom prst="rect">
            <a:avLst/>
          </a:prstGeom>
          <a:solidFill>
            <a:srgbClr val="D6E4F0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404040"/>
                </a:solidFill>
              </a:rPr>
              <a:t>Fully-connected NN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1965960"/>
            <a:ext cx="3291840" cy="658368"/>
          </a:xfrm>
          <a:prstGeom prst="rect">
            <a:avLst/>
          </a:prstGeom>
          <a:solidFill>
            <a:srgbClr val="D6E4F0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404040"/>
                </a:solidFill>
              </a:rPr>
              <a:t>Goswami et al. (2020)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624328"/>
            <a:ext cx="20116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404040"/>
                </a:solidFill>
              </a:rPr>
              <a:t>Multi-fidelity TL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31720" y="2624328"/>
            <a:ext cx="29260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404040"/>
                </a:solidFill>
              </a:rPr>
              <a:t>LF simulation → HF simulation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0" y="2624328"/>
            <a:ext cx="27432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404040"/>
                </a:solidFill>
              </a:rPr>
              <a:t>PINN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2624328"/>
            <a:ext cx="32918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404040"/>
                </a:solidFill>
              </a:rPr>
              <a:t>Chakraborty (2021)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282696"/>
            <a:ext cx="2011680" cy="658368"/>
          </a:xfrm>
          <a:prstGeom prst="rect">
            <a:avLst/>
          </a:prstGeom>
          <a:solidFill>
            <a:srgbClr val="D6E4F0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404040"/>
                </a:solidFill>
              </a:rPr>
              <a:t>One-shot / MAML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31720" y="3282696"/>
            <a:ext cx="2926080" cy="658368"/>
          </a:xfrm>
          <a:prstGeom prst="rect">
            <a:avLst/>
          </a:prstGeom>
          <a:solidFill>
            <a:srgbClr val="D6E4F0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404040"/>
                </a:solidFill>
              </a:rPr>
              <a:t>PDE family → single instance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0" y="3282696"/>
            <a:ext cx="2743200" cy="658368"/>
          </a:xfrm>
          <a:prstGeom prst="rect">
            <a:avLst/>
          </a:prstGeom>
          <a:solidFill>
            <a:srgbClr val="D6E4F0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404040"/>
                </a:solidFill>
              </a:rPr>
              <a:t>PINN + meta-learning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2440" y="3282696"/>
            <a:ext cx="3291840" cy="658368"/>
          </a:xfrm>
          <a:prstGeom prst="rect">
            <a:avLst/>
          </a:prstGeom>
          <a:solidFill>
            <a:srgbClr val="D6E4F0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404040"/>
                </a:solidFill>
              </a:rPr>
              <a:t>Desai et al. (2021)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941064"/>
            <a:ext cx="20116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404040"/>
                </a:solidFill>
              </a:rPr>
              <a:t>DeepONet TL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31720" y="3941064"/>
            <a:ext cx="29260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404040"/>
                </a:solidFill>
              </a:rPr>
              <a:t>Source operator → new operator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0" y="3941064"/>
            <a:ext cx="27432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404040"/>
                </a:solidFill>
              </a:rPr>
              <a:t>Branch + Trunk nets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92440" y="3941064"/>
            <a:ext cx="32918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404040"/>
                </a:solidFill>
              </a:rPr>
              <a:t>Goswami et al. (2022)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599431"/>
            <a:ext cx="2011680" cy="658368"/>
          </a:xfrm>
          <a:prstGeom prst="rect">
            <a:avLst/>
          </a:prstGeom>
          <a:solidFill>
            <a:srgbClr val="D6E4F0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404040"/>
                </a:solidFill>
              </a:rPr>
              <a:t>FNO zero-shot TL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31720" y="4599431"/>
            <a:ext cx="2926080" cy="658368"/>
          </a:xfrm>
          <a:prstGeom prst="rect">
            <a:avLst/>
          </a:prstGeom>
          <a:solidFill>
            <a:srgbClr val="D6E4F0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404040"/>
                </a:solidFill>
              </a:rPr>
              <a:t>Coarse → fine resolution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03520" y="4599431"/>
            <a:ext cx="2743200" cy="658368"/>
          </a:xfrm>
          <a:prstGeom prst="rect">
            <a:avLst/>
          </a:prstGeom>
          <a:solidFill>
            <a:srgbClr val="D6E4F0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404040"/>
                </a:solidFill>
              </a:rPr>
              <a:t>Fourier layers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92440" y="4599431"/>
            <a:ext cx="3291840" cy="658368"/>
          </a:xfrm>
          <a:prstGeom prst="rect">
            <a:avLst/>
          </a:prstGeom>
          <a:solidFill>
            <a:srgbClr val="D6E4F0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404040"/>
                </a:solidFill>
              </a:rPr>
              <a:t>Li et al. (2021)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257800"/>
            <a:ext cx="20116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404040"/>
                </a:solidFill>
              </a:rPr>
              <a:t>Hyper-network amort.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31720" y="5257800"/>
            <a:ext cx="29260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404040"/>
                </a:solidFill>
              </a:rPr>
              <a:t>Parameter family  𝒫_S → 𝒫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03520" y="5257800"/>
            <a:ext cx="27432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404040"/>
                </a:solidFill>
              </a:rPr>
              <a:t>Hyper-network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92440" y="5257800"/>
            <a:ext cx="32918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404040"/>
                </a:solidFill>
              </a:rPr>
              <a:t>Xu et al. (2023)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" y="6400800"/>
            <a:ext cx="1179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E74B5"/>
                </a:solidFill>
              </a:rPr>
              <a:t>See reference list (final slide) for full citations.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</a:rPr>
              <a:t>24 /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</a:rPr>
              <a:t>Open Problems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141732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E74B5"/>
                </a:solidFill>
              </a:rPr>
              <a:t>Part VI — Open Problems &amp;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</a:rPr>
              <a:t>25 /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54480"/>
            <a:ext cx="11430000" cy="4937760"/>
          </a:xfrm>
          <a:prstGeom prst="rect">
            <a:avLst/>
          </a:prstGeom>
          <a:solidFill>
            <a:srgbClr val="D6E4F0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04040"/>
                </a:solidFill>
              </a:rPr>
              <a:t>▸ Theoretical: tight generalisation bounds for deep transfer learning (current bounds often vacuous in practice).</a:t>
            </a:r>
          </a:p>
          <a:p>
            <a:pPr/>
            <a:r>
              <a:rPr sz="1500" b="0">
                <a:solidFill>
                  <a:srgbClr val="404040"/>
                </a:solidFill>
              </a:rPr>
              <a:t>▸ Negative transfer detection: principled methods to decide when NOT to transfer — currently heuristic.</a:t>
            </a:r>
          </a:p>
          <a:p>
            <a:pPr/>
            <a:r>
              <a:rPr sz="1500" b="0">
                <a:solidFill>
                  <a:srgbClr val="404040"/>
                </a:solidFill>
              </a:rPr>
              <a:t>▸ Transferability metrics: quantify domain similarity before transfer (LEEP, LogME — You et al., 2021).</a:t>
            </a:r>
          </a:p>
          <a:p>
            <a:pPr/>
            <a:r>
              <a:rPr sz="1500" b="0">
                <a:solidFill>
                  <a:srgbClr val="404040"/>
                </a:solidFill>
              </a:rPr>
              <a:t>▸ Transfer for high-dimensional PDEs: curse of dimensionality limits collocation-based methods; transfer may help but theory is underdeveloped.</a:t>
            </a:r>
          </a:p>
          <a:p>
            <a:pPr/>
            <a:r>
              <a:rPr sz="1500" b="0">
                <a:solidFill>
                  <a:srgbClr val="404040"/>
                </a:solidFill>
              </a:rPr>
              <a:t>▸ Geometry generalisation: PINNs/operators trained on one domain shape — how to transfer to topologically different domains?</a:t>
            </a:r>
          </a:p>
          <a:p>
            <a:pPr/>
            <a:r>
              <a:rPr sz="1500" b="0">
                <a:solidFill>
                  <a:srgbClr val="404040"/>
                </a:solidFill>
              </a:rPr>
              <a:t>▸ Continual learning for PDEs: learn a sequence of related PDEs without forgetting; EWC-PDE is not yet well-studied.</a:t>
            </a:r>
          </a:p>
          <a:p>
            <a:pPr/>
            <a:r>
              <a:rPr sz="1500" b="0">
                <a:solidFill>
                  <a:srgbClr val="404040"/>
                </a:solidFill>
              </a:rPr>
              <a:t>▸ Uncertainty quantification: Bayesian transfer learning for PDEs remains largely open.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00800"/>
            <a:ext cx="1179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E74B5"/>
                </a:solidFill>
              </a:rPr>
              <a:t>Ref: You et al., NeurIPS 2021 (LEEP/LogME). Müller et al., arXiv:2310.05244 (2023) survey open problems.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141732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E74B5"/>
                </a:solidFill>
              </a:rPr>
              <a:t>Part VI — Open Problems &amp;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</a:rPr>
              <a:t>26 /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54480"/>
            <a:ext cx="11430000" cy="4937760"/>
          </a:xfrm>
          <a:prstGeom prst="rect">
            <a:avLst/>
          </a:prstGeom>
          <a:solidFill>
            <a:srgbClr val="D6E4F0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404040"/>
                </a:solidFill>
              </a:rPr>
              <a:t>▸ Transfer Learning = systematic reuse of knowledge from a source domain/task to improve a target domain/task (Pan &amp; Yang, 2010).</a:t>
            </a:r>
          </a:p>
          <a:p>
            <a:pPr/>
            <a:r>
              <a:rPr sz="1600" b="0">
                <a:solidFill>
                  <a:srgbClr val="404040"/>
                </a:solidFill>
              </a:rPr>
              <a:t>▸ Theoretical foundation: domain divergence bounds (Ben-David et al., 2010); representational hierarchy (Bengio et al., 2013).</a:t>
            </a:r>
          </a:p>
          <a:p>
            <a:pPr/>
            <a:r>
              <a:rPr sz="1600" b="0">
                <a:solidFill>
                  <a:srgbClr val="404040"/>
                </a:solidFill>
              </a:rPr>
              <a:t>▸ Main strategies: fine-tuning (parameter transfer), domain adaptation (feature alignment), meta-learning (one-shot).</a:t>
            </a:r>
          </a:p>
          <a:p>
            <a:pPr/>
            <a:r>
              <a:rPr sz="1600" b="0">
                <a:solidFill>
                  <a:srgbClr val="404040"/>
                </a:solidFill>
              </a:rPr>
              <a:t>▸ For PDE solving: PINNs, DeepONet, FNO all benefit from transfer — faster convergence, fewer HF samples.</a:t>
            </a:r>
          </a:p>
          <a:p>
            <a:pPr/>
            <a:r>
              <a:rPr sz="1600" b="0">
                <a:solidFill>
                  <a:srgbClr val="404040"/>
                </a:solidFill>
              </a:rPr>
              <a:t>▸ Frozen lower layers encode generic PDE structure; upper layers encode problem-specific information — supports principled fine-tuning.</a:t>
            </a:r>
          </a:p>
          <a:p>
            <a:pPr/>
            <a:r>
              <a:rPr sz="1600" b="0">
                <a:solidFill>
                  <a:srgbClr val="404040"/>
                </a:solidFill>
              </a:rPr>
              <a:t>▸ Key challenge: avoiding negative transfer — assess domain similarity before committing to transfer.</a:t>
            </a:r>
          </a:p>
          <a:p>
            <a:pPr/>
            <a:r>
              <a:rPr sz="1600" b="0">
                <a:solidFill>
                  <a:srgbClr val="404040"/>
                </a:solidFill>
              </a:rPr>
              <a:t>▸ Active open research area with significant practical impact on scientific computing.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</a:rPr>
              <a:t>27 / 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508760"/>
            <a:ext cx="116128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404040"/>
                </a:solidFill>
              </a:rPr>
              <a:t>[1] Pan &amp; Yang, 'A Survey on Transfer Learning', IEEE TKDE 22(10), 2010, pp. 1345–1359.
[2] Ben-David et al., 'A theory of learning from different distributions', Machine Learning 79 (2010) 151–175.
[3] Bengio et al., 'Representation Learning: A Review and New Perspectives', IEEE TPAMI 35(8), 2013.
[4] Yosinski et al., 'How transferable are features in deep neural networks?', NeurIPS 2014.
[5] Goodfellow, Bengio &amp; Courville, 'Deep Learning', MIT Press, 2016.
[6] Weiss et al., 'A survey of transfer learning', Journal of Big Data 3:9, 2016.
[7] Raissi, Perdikaris &amp; Karniadakis, 'Physics-informed neural networks', J. Comput. Phys. 378 (2019) 686–707.
[8] Lu et al., 'Learning nonlinear operators via DeepONet', Nat. Mach. Intell. 3 (2021) 218–229.
[9] Li et al., 'Fourier Neural Operator for Parametric PDEs', ICLR 2021.
[10] Goswami et al., 'Transfer learning enhanced physics informed neural network for phase-field fracture', Theor. Appl. Fract. Mech. 106 (2020) 102447.
[11] Chakraborty, 'Transfer learning based multi-fidelity physics informed deep neural network', J. Comput. Phys. 426 (2021) 109942.
[12] Desai et al., 'One-shot transfer learning of physics-informed neural networks', arXiv:2110.11286, 2021.
[13] Kirkpatrick et al., 'Overcoming catastrophic forgetting in neural networks', PNAS 114(13) (2017) 3521–3526.
[14] Finn, Abbeel &amp; Levine, 'Model-Agnostic Meta-Learning', ICML 2017.
[15] Gretton et al., 'A Kernel Two-Sample Test', JMLR 13 (2012) 723–773.
[16] Xu et al., 'Transfer learning based physics-informed neural networks for solving PDEs', J. Comput. Phys. 474 (2023) 111900.
[17] Bartlett, Montanari &amp; Rakhlin, 'Deep learning: a statistical viewpoint', Acta Numerica 30 (2021) 87–201.
[18] Peherstorfer, Willcox &amp; Gunzburger, 'Survey of multifidelity methods', SIAM Review 60(3) (2018) 550–591.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